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FD6A22-C482-4C0B-BC25-B96BBA0016DE}" v="21" dt="2025-01-18T12:30:49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F91484-EC1E-46DA-9FFE-779770F396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2C6ED5-BFEF-4B12-86E0-D3740F61FC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 an accurate and efficient SMS/email spam detection model using machine learning.</a:t>
          </a:r>
        </a:p>
      </dgm:t>
    </dgm:pt>
    <dgm:pt modelId="{4F38B3CB-9D3F-46EA-835E-602F34546CD3}" type="parTrans" cxnId="{FA3CB7AA-E53C-4E11-AE5B-BFC80187107F}">
      <dgm:prSet/>
      <dgm:spPr/>
      <dgm:t>
        <a:bodyPr/>
        <a:lstStyle/>
        <a:p>
          <a:endParaRPr lang="en-US"/>
        </a:p>
      </dgm:t>
    </dgm:pt>
    <dgm:pt modelId="{5C30CDE9-9489-486C-A752-89E6FEC51C23}" type="sibTrans" cxnId="{FA3CB7AA-E53C-4E11-AE5B-BFC80187107F}">
      <dgm:prSet/>
      <dgm:spPr/>
      <dgm:t>
        <a:bodyPr/>
        <a:lstStyle/>
        <a:p>
          <a:endParaRPr lang="en-US"/>
        </a:p>
      </dgm:t>
    </dgm:pt>
    <dgm:pt modelId="{ED82F138-573B-42CD-AD8A-8116129C8D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an intuitive user interface for real-time email classification.</a:t>
          </a:r>
        </a:p>
      </dgm:t>
    </dgm:pt>
    <dgm:pt modelId="{D730512A-5C2A-437C-92F3-BFDD9CD017B4}" type="parTrans" cxnId="{C62747B0-523E-4B8C-8E54-3FBA692ABE58}">
      <dgm:prSet/>
      <dgm:spPr/>
      <dgm:t>
        <a:bodyPr/>
        <a:lstStyle/>
        <a:p>
          <a:endParaRPr lang="en-US"/>
        </a:p>
      </dgm:t>
    </dgm:pt>
    <dgm:pt modelId="{33ADB554-DBF6-45EA-8509-C34B86BC3653}" type="sibTrans" cxnId="{C62747B0-523E-4B8C-8E54-3FBA692ABE58}">
      <dgm:prSet/>
      <dgm:spPr/>
      <dgm:t>
        <a:bodyPr/>
        <a:lstStyle/>
        <a:p>
          <a:endParaRPr lang="en-US"/>
        </a:p>
      </dgm:t>
    </dgm:pt>
    <dgm:pt modelId="{E0693976-D967-4FAE-92CD-5562E6688FA6}" type="pres">
      <dgm:prSet presAssocID="{97F91484-EC1E-46DA-9FFE-779770F3963F}" presName="root" presStyleCnt="0">
        <dgm:presLayoutVars>
          <dgm:dir/>
          <dgm:resizeHandles val="exact"/>
        </dgm:presLayoutVars>
      </dgm:prSet>
      <dgm:spPr/>
    </dgm:pt>
    <dgm:pt modelId="{20F3DA4E-2C89-4F63-8DBD-79FF96F282F7}" type="pres">
      <dgm:prSet presAssocID="{E52C6ED5-BFEF-4B12-86E0-D3740F61FCE3}" presName="compNode" presStyleCnt="0"/>
      <dgm:spPr/>
    </dgm:pt>
    <dgm:pt modelId="{C9AE9EAD-61DD-4A9D-BF4F-F1F51A4BFFC7}" type="pres">
      <dgm:prSet presAssocID="{E52C6ED5-BFEF-4B12-86E0-D3740F61FCE3}" presName="bgRect" presStyleLbl="bgShp" presStyleIdx="0" presStyleCnt="2"/>
      <dgm:spPr/>
    </dgm:pt>
    <dgm:pt modelId="{F718B048-253C-46CD-B653-42493A47FC17}" type="pres">
      <dgm:prSet presAssocID="{E52C6ED5-BFEF-4B12-86E0-D3740F61F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13F1893-5B5E-47CD-9B84-E5F099AD578C}" type="pres">
      <dgm:prSet presAssocID="{E52C6ED5-BFEF-4B12-86E0-D3740F61FCE3}" presName="spaceRect" presStyleCnt="0"/>
      <dgm:spPr/>
    </dgm:pt>
    <dgm:pt modelId="{83BFB9DA-CEAE-44E2-8591-EE4B4C12E8E3}" type="pres">
      <dgm:prSet presAssocID="{E52C6ED5-BFEF-4B12-86E0-D3740F61FCE3}" presName="parTx" presStyleLbl="revTx" presStyleIdx="0" presStyleCnt="2">
        <dgm:presLayoutVars>
          <dgm:chMax val="0"/>
          <dgm:chPref val="0"/>
        </dgm:presLayoutVars>
      </dgm:prSet>
      <dgm:spPr/>
    </dgm:pt>
    <dgm:pt modelId="{522867D8-C073-475C-A44F-8A9B3EBD640F}" type="pres">
      <dgm:prSet presAssocID="{5C30CDE9-9489-486C-A752-89E6FEC51C23}" presName="sibTrans" presStyleCnt="0"/>
      <dgm:spPr/>
    </dgm:pt>
    <dgm:pt modelId="{CB9EC40B-3093-495A-9252-6234CF5C26C1}" type="pres">
      <dgm:prSet presAssocID="{ED82F138-573B-42CD-AD8A-8116129C8D57}" presName="compNode" presStyleCnt="0"/>
      <dgm:spPr/>
    </dgm:pt>
    <dgm:pt modelId="{6DBBDCF9-3BEE-4319-994D-F291018BB7A4}" type="pres">
      <dgm:prSet presAssocID="{ED82F138-573B-42CD-AD8A-8116129C8D57}" presName="bgRect" presStyleLbl="bgShp" presStyleIdx="1" presStyleCnt="2"/>
      <dgm:spPr/>
    </dgm:pt>
    <dgm:pt modelId="{ACF631F8-A49C-4690-A47C-2A210A55694C}" type="pres">
      <dgm:prSet presAssocID="{ED82F138-573B-42CD-AD8A-8116129C8D5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8BDDCD35-B378-412E-B85F-ED4CB5999E44}" type="pres">
      <dgm:prSet presAssocID="{ED82F138-573B-42CD-AD8A-8116129C8D57}" presName="spaceRect" presStyleCnt="0"/>
      <dgm:spPr/>
    </dgm:pt>
    <dgm:pt modelId="{36A63FBA-9DBF-4DBB-AEDD-F88AE0ED21F0}" type="pres">
      <dgm:prSet presAssocID="{ED82F138-573B-42CD-AD8A-8116129C8D5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0249441-494F-46D8-B3FE-1B1FAB753A53}" type="presOf" srcId="{97F91484-EC1E-46DA-9FFE-779770F3963F}" destId="{E0693976-D967-4FAE-92CD-5562E6688FA6}" srcOrd="0" destOrd="0" presId="urn:microsoft.com/office/officeart/2018/2/layout/IconVerticalSolidList"/>
    <dgm:cxn modelId="{47999853-ED52-4EBC-8748-45D4A12D8247}" type="presOf" srcId="{E52C6ED5-BFEF-4B12-86E0-D3740F61FCE3}" destId="{83BFB9DA-CEAE-44E2-8591-EE4B4C12E8E3}" srcOrd="0" destOrd="0" presId="urn:microsoft.com/office/officeart/2018/2/layout/IconVerticalSolidList"/>
    <dgm:cxn modelId="{FA3CB7AA-E53C-4E11-AE5B-BFC80187107F}" srcId="{97F91484-EC1E-46DA-9FFE-779770F3963F}" destId="{E52C6ED5-BFEF-4B12-86E0-D3740F61FCE3}" srcOrd="0" destOrd="0" parTransId="{4F38B3CB-9D3F-46EA-835E-602F34546CD3}" sibTransId="{5C30CDE9-9489-486C-A752-89E6FEC51C23}"/>
    <dgm:cxn modelId="{C62747B0-523E-4B8C-8E54-3FBA692ABE58}" srcId="{97F91484-EC1E-46DA-9FFE-779770F3963F}" destId="{ED82F138-573B-42CD-AD8A-8116129C8D57}" srcOrd="1" destOrd="0" parTransId="{D730512A-5C2A-437C-92F3-BFDD9CD017B4}" sibTransId="{33ADB554-DBF6-45EA-8509-C34B86BC3653}"/>
    <dgm:cxn modelId="{844242C2-1658-4E7A-A885-B9057C853708}" type="presOf" srcId="{ED82F138-573B-42CD-AD8A-8116129C8D57}" destId="{36A63FBA-9DBF-4DBB-AEDD-F88AE0ED21F0}" srcOrd="0" destOrd="0" presId="urn:microsoft.com/office/officeart/2018/2/layout/IconVerticalSolidList"/>
    <dgm:cxn modelId="{837BDE7E-144F-4B8B-AE4A-7989C4BA8F19}" type="presParOf" srcId="{E0693976-D967-4FAE-92CD-5562E6688FA6}" destId="{20F3DA4E-2C89-4F63-8DBD-79FF96F282F7}" srcOrd="0" destOrd="0" presId="urn:microsoft.com/office/officeart/2018/2/layout/IconVerticalSolidList"/>
    <dgm:cxn modelId="{1E06F26B-1346-43E1-B45D-8097471664A3}" type="presParOf" srcId="{20F3DA4E-2C89-4F63-8DBD-79FF96F282F7}" destId="{C9AE9EAD-61DD-4A9D-BF4F-F1F51A4BFFC7}" srcOrd="0" destOrd="0" presId="urn:microsoft.com/office/officeart/2018/2/layout/IconVerticalSolidList"/>
    <dgm:cxn modelId="{F9307BDA-B985-4C8D-877E-CF0024CF987D}" type="presParOf" srcId="{20F3DA4E-2C89-4F63-8DBD-79FF96F282F7}" destId="{F718B048-253C-46CD-B653-42493A47FC17}" srcOrd="1" destOrd="0" presId="urn:microsoft.com/office/officeart/2018/2/layout/IconVerticalSolidList"/>
    <dgm:cxn modelId="{B18465EB-EC9D-437D-8B5C-AE923EDEE759}" type="presParOf" srcId="{20F3DA4E-2C89-4F63-8DBD-79FF96F282F7}" destId="{813F1893-5B5E-47CD-9B84-E5F099AD578C}" srcOrd="2" destOrd="0" presId="urn:microsoft.com/office/officeart/2018/2/layout/IconVerticalSolidList"/>
    <dgm:cxn modelId="{9D9B72CE-62F4-4ABE-BFBA-2BE49898F73B}" type="presParOf" srcId="{20F3DA4E-2C89-4F63-8DBD-79FF96F282F7}" destId="{83BFB9DA-CEAE-44E2-8591-EE4B4C12E8E3}" srcOrd="3" destOrd="0" presId="urn:microsoft.com/office/officeart/2018/2/layout/IconVerticalSolidList"/>
    <dgm:cxn modelId="{4F224A36-7E0B-4E25-B128-19E8F69551E4}" type="presParOf" srcId="{E0693976-D967-4FAE-92CD-5562E6688FA6}" destId="{522867D8-C073-475C-A44F-8A9B3EBD640F}" srcOrd="1" destOrd="0" presId="urn:microsoft.com/office/officeart/2018/2/layout/IconVerticalSolidList"/>
    <dgm:cxn modelId="{F42F3A03-7D34-4F5C-8D03-2E0AF900B8B6}" type="presParOf" srcId="{E0693976-D967-4FAE-92CD-5562E6688FA6}" destId="{CB9EC40B-3093-495A-9252-6234CF5C26C1}" srcOrd="2" destOrd="0" presId="urn:microsoft.com/office/officeart/2018/2/layout/IconVerticalSolidList"/>
    <dgm:cxn modelId="{B2A7B775-8ACA-447D-9A54-C70D7FD74831}" type="presParOf" srcId="{CB9EC40B-3093-495A-9252-6234CF5C26C1}" destId="{6DBBDCF9-3BEE-4319-994D-F291018BB7A4}" srcOrd="0" destOrd="0" presId="urn:microsoft.com/office/officeart/2018/2/layout/IconVerticalSolidList"/>
    <dgm:cxn modelId="{C736C6E9-4233-42D3-A3AD-4B4BB9E45B3F}" type="presParOf" srcId="{CB9EC40B-3093-495A-9252-6234CF5C26C1}" destId="{ACF631F8-A49C-4690-A47C-2A210A55694C}" srcOrd="1" destOrd="0" presId="urn:microsoft.com/office/officeart/2018/2/layout/IconVerticalSolidList"/>
    <dgm:cxn modelId="{B484953D-6554-4793-BE59-784BF80464B9}" type="presParOf" srcId="{CB9EC40B-3093-495A-9252-6234CF5C26C1}" destId="{8BDDCD35-B378-412E-B85F-ED4CB5999E44}" srcOrd="2" destOrd="0" presId="urn:microsoft.com/office/officeart/2018/2/layout/IconVerticalSolidList"/>
    <dgm:cxn modelId="{48F3EF02-6BE3-419B-9985-928D8CF10E22}" type="presParOf" srcId="{CB9EC40B-3093-495A-9252-6234CF5C26C1}" destId="{36A63FBA-9DBF-4DBB-AEDD-F88AE0ED21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FB8447-2085-4CDE-9C66-74C0E6231AA5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DA4F1A-7117-4F8A-AFC4-6A2E2AA7A715}">
      <dgm:prSet/>
      <dgm:spPr/>
      <dgm:t>
        <a:bodyPr/>
        <a:lstStyle/>
        <a:p>
          <a:r>
            <a:rPr lang="en-US" dirty="0"/>
            <a:t>The model utilizes a labeled dataset of emails, where messages are categorized as spam or ham. </a:t>
          </a:r>
        </a:p>
      </dgm:t>
    </dgm:pt>
    <dgm:pt modelId="{31B3287C-2EBE-4470-A475-CC41623AD63E}" type="parTrans" cxnId="{75E3F3CF-6EBC-42F1-BC24-45BB73E655B4}">
      <dgm:prSet/>
      <dgm:spPr/>
      <dgm:t>
        <a:bodyPr/>
        <a:lstStyle/>
        <a:p>
          <a:endParaRPr lang="en-US"/>
        </a:p>
      </dgm:t>
    </dgm:pt>
    <dgm:pt modelId="{44BEC259-B1CF-4FCD-9413-BBE4EC8B58D1}" type="sibTrans" cxnId="{75E3F3CF-6EBC-42F1-BC24-45BB73E655B4}">
      <dgm:prSet/>
      <dgm:spPr/>
      <dgm:t>
        <a:bodyPr/>
        <a:lstStyle/>
        <a:p>
          <a:endParaRPr lang="en-US"/>
        </a:p>
      </dgm:t>
    </dgm:pt>
    <dgm:pt modelId="{06E08087-977C-428F-84B9-55B6758BD464}">
      <dgm:prSet/>
      <dgm:spPr/>
      <dgm:t>
        <a:bodyPr/>
        <a:lstStyle/>
        <a:p>
          <a:r>
            <a:rPr lang="en-US" dirty="0"/>
            <a:t>Preprocessing involves cleaning text data and vectorizing it using </a:t>
          </a:r>
          <a:r>
            <a:rPr lang="en-US" b="1" dirty="0"/>
            <a:t>CountVectorizer</a:t>
          </a:r>
          <a:r>
            <a:rPr lang="en-US" dirty="0"/>
            <a:t>. </a:t>
          </a:r>
        </a:p>
      </dgm:t>
    </dgm:pt>
    <dgm:pt modelId="{C02E1E6A-63DA-45BA-994C-11DF77D92D81}" type="parTrans" cxnId="{40BEC8BE-5458-4CF8-B4ED-DD722FFB30D6}">
      <dgm:prSet/>
      <dgm:spPr/>
      <dgm:t>
        <a:bodyPr/>
        <a:lstStyle/>
        <a:p>
          <a:endParaRPr lang="en-US"/>
        </a:p>
      </dgm:t>
    </dgm:pt>
    <dgm:pt modelId="{A4BE61E8-4019-4A74-BE93-60E78D808739}" type="sibTrans" cxnId="{40BEC8BE-5458-4CF8-B4ED-DD722FFB30D6}">
      <dgm:prSet/>
      <dgm:spPr/>
      <dgm:t>
        <a:bodyPr/>
        <a:lstStyle/>
        <a:p>
          <a:endParaRPr lang="en-US"/>
        </a:p>
      </dgm:t>
    </dgm:pt>
    <dgm:pt modelId="{9BF8BEA5-89A8-4109-A330-F1DB6231300B}">
      <dgm:prSet/>
      <dgm:spPr/>
      <dgm:t>
        <a:bodyPr/>
        <a:lstStyle/>
        <a:p>
          <a:r>
            <a:rPr lang="en-US"/>
            <a:t>The core classifier is a </a:t>
          </a:r>
          <a:r>
            <a:rPr lang="en-US" b="1"/>
            <a:t>Multinomial Naive Bayes</a:t>
          </a:r>
          <a:r>
            <a:rPr lang="en-US"/>
            <a:t> model, trained on an 80/20 train-test split for optimal performance. </a:t>
          </a:r>
        </a:p>
      </dgm:t>
    </dgm:pt>
    <dgm:pt modelId="{C1EC2700-6D42-4078-9D91-617DBD568334}" type="parTrans" cxnId="{B4B1C3E0-8E87-48B2-8BD0-93EEEBA7CD3E}">
      <dgm:prSet/>
      <dgm:spPr/>
      <dgm:t>
        <a:bodyPr/>
        <a:lstStyle/>
        <a:p>
          <a:endParaRPr lang="en-US"/>
        </a:p>
      </dgm:t>
    </dgm:pt>
    <dgm:pt modelId="{B1C6D316-BA27-4725-AD9C-2362C0229029}" type="sibTrans" cxnId="{B4B1C3E0-8E87-48B2-8BD0-93EEEBA7CD3E}">
      <dgm:prSet/>
      <dgm:spPr/>
      <dgm:t>
        <a:bodyPr/>
        <a:lstStyle/>
        <a:p>
          <a:endParaRPr lang="en-US"/>
        </a:p>
      </dgm:t>
    </dgm:pt>
    <dgm:pt modelId="{145C7D33-DBE8-41F6-85A4-703F789E4BAB}">
      <dgm:prSet/>
      <dgm:spPr/>
      <dgm:t>
        <a:bodyPr/>
        <a:lstStyle/>
        <a:p>
          <a:r>
            <a:rPr lang="en-US"/>
            <a:t>The model is then integrated with a </a:t>
          </a:r>
          <a:r>
            <a:rPr lang="en-US" b="1"/>
            <a:t>Tkinter-based GUI </a:t>
          </a:r>
          <a:r>
            <a:rPr lang="en-US"/>
            <a:t>and </a:t>
          </a:r>
          <a:r>
            <a:rPr lang="en-US" b="1"/>
            <a:t>Streamlit-based web app</a:t>
          </a:r>
          <a:r>
            <a:rPr lang="en-US"/>
            <a:t>, allowing users to classify emails online.</a:t>
          </a:r>
        </a:p>
      </dgm:t>
    </dgm:pt>
    <dgm:pt modelId="{F34C47D9-3960-4EDC-B421-3FFED5D46CDA}" type="parTrans" cxnId="{6F1FE5F8-1CDD-44EC-BD25-17A4C128814A}">
      <dgm:prSet/>
      <dgm:spPr/>
      <dgm:t>
        <a:bodyPr/>
        <a:lstStyle/>
        <a:p>
          <a:endParaRPr lang="en-US"/>
        </a:p>
      </dgm:t>
    </dgm:pt>
    <dgm:pt modelId="{AECDB388-4E15-4141-BA9E-D93CFBB78550}" type="sibTrans" cxnId="{6F1FE5F8-1CDD-44EC-BD25-17A4C128814A}">
      <dgm:prSet/>
      <dgm:spPr/>
      <dgm:t>
        <a:bodyPr/>
        <a:lstStyle/>
        <a:p>
          <a:endParaRPr lang="en-US"/>
        </a:p>
      </dgm:t>
    </dgm:pt>
    <dgm:pt modelId="{AC95B6B9-275F-44E8-B087-B02D786161A4}" type="pres">
      <dgm:prSet presAssocID="{CBFB8447-2085-4CDE-9C66-74C0E6231AA5}" presName="diagram" presStyleCnt="0">
        <dgm:presLayoutVars>
          <dgm:dir/>
          <dgm:resizeHandles val="exact"/>
        </dgm:presLayoutVars>
      </dgm:prSet>
      <dgm:spPr/>
    </dgm:pt>
    <dgm:pt modelId="{24821AD3-67E1-4CBD-88E7-0CB008401404}" type="pres">
      <dgm:prSet presAssocID="{79DA4F1A-7117-4F8A-AFC4-6A2E2AA7A715}" presName="node" presStyleLbl="node1" presStyleIdx="0" presStyleCnt="4">
        <dgm:presLayoutVars>
          <dgm:bulletEnabled val="1"/>
        </dgm:presLayoutVars>
      </dgm:prSet>
      <dgm:spPr/>
    </dgm:pt>
    <dgm:pt modelId="{E5DCEEFB-90F1-4746-BC6A-8F1D8E3AF771}" type="pres">
      <dgm:prSet presAssocID="{44BEC259-B1CF-4FCD-9413-BBE4EC8B58D1}" presName="sibTrans" presStyleLbl="sibTrans2D1" presStyleIdx="0" presStyleCnt="3"/>
      <dgm:spPr/>
    </dgm:pt>
    <dgm:pt modelId="{48220027-7336-41A5-8FA8-5016D47A3CF1}" type="pres">
      <dgm:prSet presAssocID="{44BEC259-B1CF-4FCD-9413-BBE4EC8B58D1}" presName="connectorText" presStyleLbl="sibTrans2D1" presStyleIdx="0" presStyleCnt="3"/>
      <dgm:spPr/>
    </dgm:pt>
    <dgm:pt modelId="{A63C4E1F-D7A0-4C93-A60C-3C5310FDBBDA}" type="pres">
      <dgm:prSet presAssocID="{06E08087-977C-428F-84B9-55B6758BD464}" presName="node" presStyleLbl="node1" presStyleIdx="1" presStyleCnt="4">
        <dgm:presLayoutVars>
          <dgm:bulletEnabled val="1"/>
        </dgm:presLayoutVars>
      </dgm:prSet>
      <dgm:spPr/>
    </dgm:pt>
    <dgm:pt modelId="{16A7BA9D-1473-42E4-ADD1-203A0681E43F}" type="pres">
      <dgm:prSet presAssocID="{A4BE61E8-4019-4A74-BE93-60E78D808739}" presName="sibTrans" presStyleLbl="sibTrans2D1" presStyleIdx="1" presStyleCnt="3"/>
      <dgm:spPr/>
    </dgm:pt>
    <dgm:pt modelId="{028ECA4F-CF35-491B-80CB-64E8B1FA1F48}" type="pres">
      <dgm:prSet presAssocID="{A4BE61E8-4019-4A74-BE93-60E78D808739}" presName="connectorText" presStyleLbl="sibTrans2D1" presStyleIdx="1" presStyleCnt="3"/>
      <dgm:spPr/>
    </dgm:pt>
    <dgm:pt modelId="{D03F7390-1A87-4F1F-82DD-6F75EF5B47EE}" type="pres">
      <dgm:prSet presAssocID="{9BF8BEA5-89A8-4109-A330-F1DB6231300B}" presName="node" presStyleLbl="node1" presStyleIdx="2" presStyleCnt="4">
        <dgm:presLayoutVars>
          <dgm:bulletEnabled val="1"/>
        </dgm:presLayoutVars>
      </dgm:prSet>
      <dgm:spPr/>
    </dgm:pt>
    <dgm:pt modelId="{28BF6E69-F8AA-4D8B-871B-24D016CECB51}" type="pres">
      <dgm:prSet presAssocID="{B1C6D316-BA27-4725-AD9C-2362C0229029}" presName="sibTrans" presStyleLbl="sibTrans2D1" presStyleIdx="2" presStyleCnt="3"/>
      <dgm:spPr/>
    </dgm:pt>
    <dgm:pt modelId="{24893034-ED9E-4AC5-8DAC-BA020A162BCB}" type="pres">
      <dgm:prSet presAssocID="{B1C6D316-BA27-4725-AD9C-2362C0229029}" presName="connectorText" presStyleLbl="sibTrans2D1" presStyleIdx="2" presStyleCnt="3"/>
      <dgm:spPr/>
    </dgm:pt>
    <dgm:pt modelId="{6ABDDAEA-0064-4BC3-A1C6-EB8ED5811BC3}" type="pres">
      <dgm:prSet presAssocID="{145C7D33-DBE8-41F6-85A4-703F789E4BAB}" presName="node" presStyleLbl="node1" presStyleIdx="3" presStyleCnt="4">
        <dgm:presLayoutVars>
          <dgm:bulletEnabled val="1"/>
        </dgm:presLayoutVars>
      </dgm:prSet>
      <dgm:spPr/>
    </dgm:pt>
  </dgm:ptLst>
  <dgm:cxnLst>
    <dgm:cxn modelId="{C8C76709-93A9-4434-8602-8503EC9E456F}" type="presOf" srcId="{145C7D33-DBE8-41F6-85A4-703F789E4BAB}" destId="{6ABDDAEA-0064-4BC3-A1C6-EB8ED5811BC3}" srcOrd="0" destOrd="0" presId="urn:microsoft.com/office/officeart/2005/8/layout/process5"/>
    <dgm:cxn modelId="{F0ADB729-C269-4A0B-B647-619D3B5D120F}" type="presOf" srcId="{B1C6D316-BA27-4725-AD9C-2362C0229029}" destId="{24893034-ED9E-4AC5-8DAC-BA020A162BCB}" srcOrd="1" destOrd="0" presId="urn:microsoft.com/office/officeart/2005/8/layout/process5"/>
    <dgm:cxn modelId="{2E73255B-F38A-4BBD-A402-4A30C6952EEF}" type="presOf" srcId="{06E08087-977C-428F-84B9-55B6758BD464}" destId="{A63C4E1F-D7A0-4C93-A60C-3C5310FDBBDA}" srcOrd="0" destOrd="0" presId="urn:microsoft.com/office/officeart/2005/8/layout/process5"/>
    <dgm:cxn modelId="{03010F49-706F-4E15-B61D-BC0EF8101F82}" type="presOf" srcId="{9BF8BEA5-89A8-4109-A330-F1DB6231300B}" destId="{D03F7390-1A87-4F1F-82DD-6F75EF5B47EE}" srcOrd="0" destOrd="0" presId="urn:microsoft.com/office/officeart/2005/8/layout/process5"/>
    <dgm:cxn modelId="{BCB6AC71-A1D5-4B70-B748-43FA2CADBE86}" type="presOf" srcId="{44BEC259-B1CF-4FCD-9413-BBE4EC8B58D1}" destId="{E5DCEEFB-90F1-4746-BC6A-8F1D8E3AF771}" srcOrd="0" destOrd="0" presId="urn:microsoft.com/office/officeart/2005/8/layout/process5"/>
    <dgm:cxn modelId="{A6EAFD72-97BC-4FAF-83C0-D6A25C1384A5}" type="presOf" srcId="{CBFB8447-2085-4CDE-9C66-74C0E6231AA5}" destId="{AC95B6B9-275F-44E8-B087-B02D786161A4}" srcOrd="0" destOrd="0" presId="urn:microsoft.com/office/officeart/2005/8/layout/process5"/>
    <dgm:cxn modelId="{60EEB38E-6E6E-4FCC-9594-9CAFEB373154}" type="presOf" srcId="{A4BE61E8-4019-4A74-BE93-60E78D808739}" destId="{16A7BA9D-1473-42E4-ADD1-203A0681E43F}" srcOrd="0" destOrd="0" presId="urn:microsoft.com/office/officeart/2005/8/layout/process5"/>
    <dgm:cxn modelId="{5EF36D91-6F73-43FA-9C32-409B0CD8312F}" type="presOf" srcId="{79DA4F1A-7117-4F8A-AFC4-6A2E2AA7A715}" destId="{24821AD3-67E1-4CBD-88E7-0CB008401404}" srcOrd="0" destOrd="0" presId="urn:microsoft.com/office/officeart/2005/8/layout/process5"/>
    <dgm:cxn modelId="{9F1B5A99-7B09-4772-8F15-0869B17FD81D}" type="presOf" srcId="{B1C6D316-BA27-4725-AD9C-2362C0229029}" destId="{28BF6E69-F8AA-4D8B-871B-24D016CECB51}" srcOrd="0" destOrd="0" presId="urn:microsoft.com/office/officeart/2005/8/layout/process5"/>
    <dgm:cxn modelId="{40BEC8BE-5458-4CF8-B4ED-DD722FFB30D6}" srcId="{CBFB8447-2085-4CDE-9C66-74C0E6231AA5}" destId="{06E08087-977C-428F-84B9-55B6758BD464}" srcOrd="1" destOrd="0" parTransId="{C02E1E6A-63DA-45BA-994C-11DF77D92D81}" sibTransId="{A4BE61E8-4019-4A74-BE93-60E78D808739}"/>
    <dgm:cxn modelId="{47D973CC-5071-432A-9D22-2256D22F27F0}" type="presOf" srcId="{A4BE61E8-4019-4A74-BE93-60E78D808739}" destId="{028ECA4F-CF35-491B-80CB-64E8B1FA1F48}" srcOrd="1" destOrd="0" presId="urn:microsoft.com/office/officeart/2005/8/layout/process5"/>
    <dgm:cxn modelId="{75E3F3CF-6EBC-42F1-BC24-45BB73E655B4}" srcId="{CBFB8447-2085-4CDE-9C66-74C0E6231AA5}" destId="{79DA4F1A-7117-4F8A-AFC4-6A2E2AA7A715}" srcOrd="0" destOrd="0" parTransId="{31B3287C-2EBE-4470-A475-CC41623AD63E}" sibTransId="{44BEC259-B1CF-4FCD-9413-BBE4EC8B58D1}"/>
    <dgm:cxn modelId="{B55358D8-DBF5-42E1-B695-E4BEC16843BE}" type="presOf" srcId="{44BEC259-B1CF-4FCD-9413-BBE4EC8B58D1}" destId="{48220027-7336-41A5-8FA8-5016D47A3CF1}" srcOrd="1" destOrd="0" presId="urn:microsoft.com/office/officeart/2005/8/layout/process5"/>
    <dgm:cxn modelId="{B4B1C3E0-8E87-48B2-8BD0-93EEEBA7CD3E}" srcId="{CBFB8447-2085-4CDE-9C66-74C0E6231AA5}" destId="{9BF8BEA5-89A8-4109-A330-F1DB6231300B}" srcOrd="2" destOrd="0" parTransId="{C1EC2700-6D42-4078-9D91-617DBD568334}" sibTransId="{B1C6D316-BA27-4725-AD9C-2362C0229029}"/>
    <dgm:cxn modelId="{6F1FE5F8-1CDD-44EC-BD25-17A4C128814A}" srcId="{CBFB8447-2085-4CDE-9C66-74C0E6231AA5}" destId="{145C7D33-DBE8-41F6-85A4-703F789E4BAB}" srcOrd="3" destOrd="0" parTransId="{F34C47D9-3960-4EDC-B421-3FFED5D46CDA}" sibTransId="{AECDB388-4E15-4141-BA9E-D93CFBB78550}"/>
    <dgm:cxn modelId="{06EDBC55-7AB9-4ABF-8BC8-7B370BA45F12}" type="presParOf" srcId="{AC95B6B9-275F-44E8-B087-B02D786161A4}" destId="{24821AD3-67E1-4CBD-88E7-0CB008401404}" srcOrd="0" destOrd="0" presId="urn:microsoft.com/office/officeart/2005/8/layout/process5"/>
    <dgm:cxn modelId="{B3976AF3-BC24-494B-AA98-A6130BF2AB94}" type="presParOf" srcId="{AC95B6B9-275F-44E8-B087-B02D786161A4}" destId="{E5DCEEFB-90F1-4746-BC6A-8F1D8E3AF771}" srcOrd="1" destOrd="0" presId="urn:microsoft.com/office/officeart/2005/8/layout/process5"/>
    <dgm:cxn modelId="{0C85B59F-B068-488D-BBF8-821D6864DAC8}" type="presParOf" srcId="{E5DCEEFB-90F1-4746-BC6A-8F1D8E3AF771}" destId="{48220027-7336-41A5-8FA8-5016D47A3CF1}" srcOrd="0" destOrd="0" presId="urn:microsoft.com/office/officeart/2005/8/layout/process5"/>
    <dgm:cxn modelId="{074A9B77-646E-4C20-95DA-C42F7D3B9C27}" type="presParOf" srcId="{AC95B6B9-275F-44E8-B087-B02D786161A4}" destId="{A63C4E1F-D7A0-4C93-A60C-3C5310FDBBDA}" srcOrd="2" destOrd="0" presId="urn:microsoft.com/office/officeart/2005/8/layout/process5"/>
    <dgm:cxn modelId="{0358D939-6337-4700-AB2D-FA82E570310E}" type="presParOf" srcId="{AC95B6B9-275F-44E8-B087-B02D786161A4}" destId="{16A7BA9D-1473-42E4-ADD1-203A0681E43F}" srcOrd="3" destOrd="0" presId="urn:microsoft.com/office/officeart/2005/8/layout/process5"/>
    <dgm:cxn modelId="{A13340DC-5FDF-4E56-8C8A-127959A3119A}" type="presParOf" srcId="{16A7BA9D-1473-42E4-ADD1-203A0681E43F}" destId="{028ECA4F-CF35-491B-80CB-64E8B1FA1F48}" srcOrd="0" destOrd="0" presId="urn:microsoft.com/office/officeart/2005/8/layout/process5"/>
    <dgm:cxn modelId="{15127C54-0955-40D3-BAC0-0A79A6502F86}" type="presParOf" srcId="{AC95B6B9-275F-44E8-B087-B02D786161A4}" destId="{D03F7390-1A87-4F1F-82DD-6F75EF5B47EE}" srcOrd="4" destOrd="0" presId="urn:microsoft.com/office/officeart/2005/8/layout/process5"/>
    <dgm:cxn modelId="{89D2ACA2-2F1C-4ECD-8F40-5E2C905DF883}" type="presParOf" srcId="{AC95B6B9-275F-44E8-B087-B02D786161A4}" destId="{28BF6E69-F8AA-4D8B-871B-24D016CECB51}" srcOrd="5" destOrd="0" presId="urn:microsoft.com/office/officeart/2005/8/layout/process5"/>
    <dgm:cxn modelId="{1C1F99D1-8D3F-4A70-BFA8-B8FD575FD0B6}" type="presParOf" srcId="{28BF6E69-F8AA-4D8B-871B-24D016CECB51}" destId="{24893034-ED9E-4AC5-8DAC-BA020A162BCB}" srcOrd="0" destOrd="0" presId="urn:microsoft.com/office/officeart/2005/8/layout/process5"/>
    <dgm:cxn modelId="{3F2BE71C-5B2E-45E0-B0DC-732957C78F3A}" type="presParOf" srcId="{AC95B6B9-275F-44E8-B087-B02D786161A4}" destId="{6ABDDAEA-0064-4BC3-A1C6-EB8ED5811BC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AE9EAD-61DD-4A9D-BF4F-F1F51A4BFFC7}">
      <dsp:nvSpPr>
        <dsp:cNvPr id="0" name=""/>
        <dsp:cNvSpPr/>
      </dsp:nvSpPr>
      <dsp:spPr>
        <a:xfrm>
          <a:off x="0" y="627208"/>
          <a:ext cx="10515600" cy="11579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18B048-253C-46CD-B653-42493A47FC17}">
      <dsp:nvSpPr>
        <dsp:cNvPr id="0" name=""/>
        <dsp:cNvSpPr/>
      </dsp:nvSpPr>
      <dsp:spPr>
        <a:xfrm>
          <a:off x="350271" y="887740"/>
          <a:ext cx="636857" cy="6368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FB9DA-CEAE-44E2-8591-EE4B4C12E8E3}">
      <dsp:nvSpPr>
        <dsp:cNvPr id="0" name=""/>
        <dsp:cNvSpPr/>
      </dsp:nvSpPr>
      <dsp:spPr>
        <a:xfrm>
          <a:off x="1337400" y="627208"/>
          <a:ext cx="9178199" cy="1157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Develop an accurate and efficient SMS/email spam detection model using machine learning.</a:t>
          </a:r>
        </a:p>
      </dsp:txBody>
      <dsp:txXfrm>
        <a:off x="1337400" y="627208"/>
        <a:ext cx="9178199" cy="1157922"/>
      </dsp:txXfrm>
    </dsp:sp>
    <dsp:sp modelId="{6DBBDCF9-3BEE-4319-994D-F291018BB7A4}">
      <dsp:nvSpPr>
        <dsp:cNvPr id="0" name=""/>
        <dsp:cNvSpPr/>
      </dsp:nvSpPr>
      <dsp:spPr>
        <a:xfrm>
          <a:off x="0" y="2074611"/>
          <a:ext cx="10515600" cy="115792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F631F8-A49C-4690-A47C-2A210A55694C}">
      <dsp:nvSpPr>
        <dsp:cNvPr id="0" name=""/>
        <dsp:cNvSpPr/>
      </dsp:nvSpPr>
      <dsp:spPr>
        <a:xfrm>
          <a:off x="350271" y="2335143"/>
          <a:ext cx="636857" cy="6368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63FBA-9DBF-4DBB-AEDD-F88AE0ED21F0}">
      <dsp:nvSpPr>
        <dsp:cNvPr id="0" name=""/>
        <dsp:cNvSpPr/>
      </dsp:nvSpPr>
      <dsp:spPr>
        <a:xfrm>
          <a:off x="1337400" y="2074611"/>
          <a:ext cx="9178199" cy="1157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 an intuitive user interface for real-time email classification.</a:t>
          </a:r>
        </a:p>
      </dsp:txBody>
      <dsp:txXfrm>
        <a:off x="1337400" y="2074611"/>
        <a:ext cx="9178199" cy="11579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21AD3-67E1-4CBD-88E7-0CB008401404}">
      <dsp:nvSpPr>
        <dsp:cNvPr id="0" name=""/>
        <dsp:cNvSpPr/>
      </dsp:nvSpPr>
      <dsp:spPr>
        <a:xfrm>
          <a:off x="1348" y="730943"/>
          <a:ext cx="2874811" cy="172488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model utilizes a labeled dataset of emails, where messages are categorized as spam or ham. </a:t>
          </a:r>
        </a:p>
      </dsp:txBody>
      <dsp:txXfrm>
        <a:off x="51868" y="781463"/>
        <a:ext cx="2773771" cy="1623846"/>
      </dsp:txXfrm>
    </dsp:sp>
    <dsp:sp modelId="{E5DCEEFB-90F1-4746-BC6A-8F1D8E3AF771}">
      <dsp:nvSpPr>
        <dsp:cNvPr id="0" name=""/>
        <dsp:cNvSpPr/>
      </dsp:nvSpPr>
      <dsp:spPr>
        <a:xfrm>
          <a:off x="3129143" y="1236910"/>
          <a:ext cx="609460" cy="7129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129143" y="1379501"/>
        <a:ext cx="426622" cy="427771"/>
      </dsp:txXfrm>
    </dsp:sp>
    <dsp:sp modelId="{A63C4E1F-D7A0-4C93-A60C-3C5310FDBBDA}">
      <dsp:nvSpPr>
        <dsp:cNvPr id="0" name=""/>
        <dsp:cNvSpPr/>
      </dsp:nvSpPr>
      <dsp:spPr>
        <a:xfrm>
          <a:off x="4026084" y="730943"/>
          <a:ext cx="2874811" cy="1724886"/>
        </a:xfrm>
        <a:prstGeom prst="roundRect">
          <a:avLst>
            <a:gd name="adj" fmla="val 10000"/>
          </a:avLst>
        </a:prstGeom>
        <a:solidFill>
          <a:schemeClr val="accent5">
            <a:hueOff val="5803288"/>
            <a:satOff val="2564"/>
            <a:lumOff val="-28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Preprocessing involves cleaning text data and vectorizing it using </a:t>
          </a:r>
          <a:r>
            <a:rPr lang="en-US" sz="1700" b="1" kern="1200" dirty="0"/>
            <a:t>CountVectorizer</a:t>
          </a:r>
          <a:r>
            <a:rPr lang="en-US" sz="1700" kern="1200" dirty="0"/>
            <a:t>. </a:t>
          </a:r>
        </a:p>
      </dsp:txBody>
      <dsp:txXfrm>
        <a:off x="4076604" y="781463"/>
        <a:ext cx="2773771" cy="1623846"/>
      </dsp:txXfrm>
    </dsp:sp>
    <dsp:sp modelId="{16A7BA9D-1473-42E4-ADD1-203A0681E43F}">
      <dsp:nvSpPr>
        <dsp:cNvPr id="0" name=""/>
        <dsp:cNvSpPr/>
      </dsp:nvSpPr>
      <dsp:spPr>
        <a:xfrm rot="5400000">
          <a:off x="5158760" y="2657067"/>
          <a:ext cx="609460" cy="7129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8704932"/>
            <a:satOff val="3846"/>
            <a:lumOff val="-42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5249605" y="2708813"/>
        <a:ext cx="427771" cy="426622"/>
      </dsp:txXfrm>
    </dsp:sp>
    <dsp:sp modelId="{D03F7390-1A87-4F1F-82DD-6F75EF5B47EE}">
      <dsp:nvSpPr>
        <dsp:cNvPr id="0" name=""/>
        <dsp:cNvSpPr/>
      </dsp:nvSpPr>
      <dsp:spPr>
        <a:xfrm>
          <a:off x="4026084" y="3605755"/>
          <a:ext cx="2874811" cy="1724886"/>
        </a:xfrm>
        <a:prstGeom prst="roundRect">
          <a:avLst>
            <a:gd name="adj" fmla="val 10000"/>
          </a:avLst>
        </a:prstGeom>
        <a:solidFill>
          <a:schemeClr val="accent5">
            <a:hueOff val="11606576"/>
            <a:satOff val="5128"/>
            <a:lumOff val="-56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core classifier is a </a:t>
          </a:r>
          <a:r>
            <a:rPr lang="en-US" sz="1700" b="1" kern="1200"/>
            <a:t>Multinomial Naive Bayes</a:t>
          </a:r>
          <a:r>
            <a:rPr lang="en-US" sz="1700" kern="1200"/>
            <a:t> model, trained on an 80/20 train-test split for optimal performance. </a:t>
          </a:r>
        </a:p>
      </dsp:txBody>
      <dsp:txXfrm>
        <a:off x="4076604" y="3656275"/>
        <a:ext cx="2773771" cy="1623846"/>
      </dsp:txXfrm>
    </dsp:sp>
    <dsp:sp modelId="{28BF6E69-F8AA-4D8B-871B-24D016CECB51}">
      <dsp:nvSpPr>
        <dsp:cNvPr id="0" name=""/>
        <dsp:cNvSpPr/>
      </dsp:nvSpPr>
      <dsp:spPr>
        <a:xfrm rot="10800000">
          <a:off x="3163640" y="4111722"/>
          <a:ext cx="609460" cy="7129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346478" y="4254313"/>
        <a:ext cx="426622" cy="427771"/>
      </dsp:txXfrm>
    </dsp:sp>
    <dsp:sp modelId="{6ABDDAEA-0064-4BC3-A1C6-EB8ED5811BC3}">
      <dsp:nvSpPr>
        <dsp:cNvPr id="0" name=""/>
        <dsp:cNvSpPr/>
      </dsp:nvSpPr>
      <dsp:spPr>
        <a:xfrm>
          <a:off x="1348" y="3605755"/>
          <a:ext cx="2874811" cy="1724886"/>
        </a:xfrm>
        <a:prstGeom prst="roundRect">
          <a:avLst>
            <a:gd name="adj" fmla="val 10000"/>
          </a:avLst>
        </a:prstGeom>
        <a:solidFill>
          <a:schemeClr val="accent5">
            <a:hueOff val="17409864"/>
            <a:satOff val="7692"/>
            <a:lumOff val="-84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model is then integrated with a </a:t>
          </a:r>
          <a:r>
            <a:rPr lang="en-US" sz="1700" b="1" kern="1200"/>
            <a:t>Tkinter-based GUI </a:t>
          </a:r>
          <a:r>
            <a:rPr lang="en-US" sz="1700" kern="1200"/>
            <a:t>and </a:t>
          </a:r>
          <a:r>
            <a:rPr lang="en-US" sz="1700" b="1" kern="1200"/>
            <a:t>Streamlit-based web app</a:t>
          </a:r>
          <a:r>
            <a:rPr lang="en-US" sz="1700" kern="1200"/>
            <a:t>, allowing users to classify emails online.</a:t>
          </a:r>
        </a:p>
      </dsp:txBody>
      <dsp:txXfrm>
        <a:off x="51868" y="3656275"/>
        <a:ext cx="2773771" cy="1623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9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50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977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73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36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577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9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051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05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655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923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6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F8A656C-0806-4677-A38B-DA5DF0F3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 descr="Person holding mouse">
            <a:extLst>
              <a:ext uri="{FF2B5EF4-FFF2-40B4-BE49-F238E27FC236}">
                <a16:creationId xmlns:a16="http://schemas.microsoft.com/office/drawing/2014/main" id="{4F2655BE-E7B3-3F8F-2C08-624E6395A2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2355" b="33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EF8C6D-8BB3-473A-9607-D7381CC5C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7537" y="643467"/>
            <a:ext cx="5520995" cy="5215839"/>
          </a:xfrm>
          <a:prstGeom prst="roundRect">
            <a:avLst>
              <a:gd name="adj" fmla="val 265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974447-B204-A50C-9639-B34D30569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7047" y="795509"/>
            <a:ext cx="5037616" cy="3011340"/>
          </a:xfrm>
        </p:spPr>
        <p:txBody>
          <a:bodyPr>
            <a:normAutofit/>
          </a:bodyPr>
          <a:lstStyle/>
          <a:p>
            <a:r>
              <a:rPr lang="en-US" dirty="0"/>
              <a:t>SMS Spam detection using NLP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CCE34-5699-530A-08A4-34EF810D9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7047" y="3898924"/>
            <a:ext cx="5037616" cy="1777878"/>
          </a:xfrm>
        </p:spPr>
        <p:txBody>
          <a:bodyPr>
            <a:normAutofit/>
          </a:bodyPr>
          <a:lstStyle/>
          <a:p>
            <a:r>
              <a:rPr lang="en-US" dirty="0"/>
              <a:t>Name: Vaishnavi Kainthola</a:t>
            </a:r>
          </a:p>
          <a:p>
            <a:r>
              <a:rPr lang="en-US" dirty="0"/>
              <a:t>Section: B1</a:t>
            </a:r>
          </a:p>
          <a:p>
            <a:r>
              <a:rPr lang="en-US" dirty="0"/>
              <a:t>Roll No: 76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DCFDFFB9-D302-4A05-A770-D33232254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06764" y="906791"/>
            <a:ext cx="2987899" cy="2987899"/>
          </a:xfrm>
          <a:prstGeom prst="arc">
            <a:avLst>
              <a:gd name="adj1" fmla="val 16200000"/>
              <a:gd name="adj2" fmla="val 114657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84149-CF86-58AD-DA07-6E4C10E37CF8}"/>
              </a:ext>
            </a:extLst>
          </p:cNvPr>
          <p:cNvSpPr txBox="1"/>
          <p:nvPr/>
        </p:nvSpPr>
        <p:spPr>
          <a:xfrm>
            <a:off x="7495124" y="5896100"/>
            <a:ext cx="2561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Mini Project</a:t>
            </a:r>
          </a:p>
        </p:txBody>
      </p:sp>
    </p:spTree>
    <p:extLst>
      <p:ext uri="{BB962C8B-B14F-4D97-AF65-F5344CB8AC3E}">
        <p14:creationId xmlns:p14="http://schemas.microsoft.com/office/powerpoint/2010/main" val="3063644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A3F9DB-B144-47A4-9DB2-706C3908B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3D9A74CD-249A-437B-A289-413676038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79A5F89C-4FC6-B8F0-A853-69B0F87D71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A8421-713C-F445-79D6-BC593F8A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37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75168-C6A9-4EC4-40B5-D4CA6026C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SMS spam detection involves identifying unwanted or malicious messages using machine learning or rule-based systems. 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It enhances user experience by filtering spam, employing techniques like natural language processing and statistical analysis.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120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35949-D960-358A-ED03-7876A3F2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3586C0F-BE74-88A4-85AD-E1DC59C4767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8597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50344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3C5DD-51D6-7665-EC7A-A828E3764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9B16F3A-07BF-8611-DF35-C8FDF3CDE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562863"/>
              </p:ext>
            </p:extLst>
          </p:nvPr>
        </p:nvGraphicFramePr>
        <p:xfrm>
          <a:off x="4734233" y="486698"/>
          <a:ext cx="6902244" cy="6061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813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3EDF8-0AD8-AA54-7637-3FF909DC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3703"/>
            <a:ext cx="6577973" cy="1325563"/>
          </a:xfrm>
        </p:spPr>
        <p:txBody>
          <a:bodyPr>
            <a:normAutofit/>
          </a:bodyPr>
          <a:lstStyle/>
          <a:p>
            <a:r>
              <a:rPr lang="en-US" dirty="0"/>
              <a:t>Multinomial Naive Bayes Model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494CC-40F2-71EE-40EC-68969C5DA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469" y="2092519"/>
            <a:ext cx="610224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This is the core machine learning model used for classification.</a:t>
            </a:r>
          </a:p>
          <a:p>
            <a:r>
              <a:rPr lang="en-US" sz="2400" dirty="0"/>
              <a:t>The Multinomial Naive Bayes algorithm is well-suited for text data and is based on Bayes' Theorem with an assumption of independence between features.</a:t>
            </a:r>
          </a:p>
          <a:p>
            <a:r>
              <a:rPr lang="en-US" sz="2400" dirty="0"/>
              <a:t>The model uses preprocessed numerical data to learn patterns associated with spam and non-spam (ham) messages.</a:t>
            </a:r>
          </a:p>
          <a:p>
            <a:endParaRPr lang="en-US" sz="2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A58E85FC-968C-6B3B-751B-E5A0C6426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335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3D0E7-6DF1-7394-A343-7CDEF247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OUTPUT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44D9FF6-DC2D-977E-0CD7-68E3463A8D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2359742"/>
            <a:ext cx="4954405" cy="3006605"/>
          </a:xfr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19C638B2-88EA-4B14-4BE9-7E69B1072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619" y="2359742"/>
            <a:ext cx="4906544" cy="30066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A10D2E-3DB1-736C-4D60-865D85EBA9B8}"/>
              </a:ext>
            </a:extLst>
          </p:cNvPr>
          <p:cNvSpPr txBox="1"/>
          <p:nvPr/>
        </p:nvSpPr>
        <p:spPr>
          <a:xfrm>
            <a:off x="2381865" y="5455710"/>
            <a:ext cx="160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SPAM MAIL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6397A6-B175-FCF3-E1EA-956A1A5A72F5}"/>
              </a:ext>
            </a:extLst>
          </p:cNvPr>
          <p:cNvSpPr txBox="1"/>
          <p:nvPr/>
        </p:nvSpPr>
        <p:spPr>
          <a:xfrm>
            <a:off x="7907431" y="5455710"/>
            <a:ext cx="210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SPAM MAIL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C59004-6D12-998B-A02E-CEBFF06CE637}"/>
              </a:ext>
            </a:extLst>
          </p:cNvPr>
          <p:cNvSpPr txBox="1"/>
          <p:nvPr/>
        </p:nvSpPr>
        <p:spPr>
          <a:xfrm>
            <a:off x="838200" y="1735368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training the model, it classifies the email as either spam or ham based on its learned patterns.</a:t>
            </a:r>
          </a:p>
        </p:txBody>
      </p:sp>
    </p:spTree>
    <p:extLst>
      <p:ext uri="{BB962C8B-B14F-4D97-AF65-F5344CB8AC3E}">
        <p14:creationId xmlns:p14="http://schemas.microsoft.com/office/powerpoint/2010/main" val="287261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erson holding mouse">
            <a:extLst>
              <a:ext uri="{FF2B5EF4-FFF2-40B4-BE49-F238E27FC236}">
                <a16:creationId xmlns:a16="http://schemas.microsoft.com/office/drawing/2014/main" id="{5F2EE3F4-3DFD-5F29-9CA0-45AD5539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64" r="24675" b="-1"/>
          <a:stretch/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32C5B-AF6E-9065-732E-AB9370731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9A08D-BD75-FFB0-C0EA-74CB01CC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581526"/>
          </a:xfrm>
        </p:spPr>
        <p:txBody>
          <a:bodyPr>
            <a:noAutofit/>
          </a:bodyPr>
          <a:lstStyle/>
          <a:p>
            <a:pPr marL="342900" marR="0" lvl="0" indent="-342900"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Email Service Providers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Enhance email filtering systems for platforms like Gmail, Outlook, and Yahoo Mail.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Enterprise Solutions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Help businesses safeguard against phishing and spam, improving security and productivity.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 Users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Provide tools for better email management, saving time and reducing frustration.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Cybersecurity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Detect malicious emails, protecting users from fraud, malware, and data breaches.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Education and Awareness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Serve as a learning tool for understanding machine learning applications in text classification.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4905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442D2C40-7ED8-45E4-9E7D-C3407F9CA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1E350F6-00FA-AF4A-C4E1-6C2C5DFCAD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5929" b="9697"/>
          <a:stretch/>
        </p:blipFill>
        <p:spPr>
          <a:xfrm>
            <a:off x="20" y="-8467"/>
            <a:ext cx="12191980" cy="68664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D692BE-4055-75E5-9396-CAAF9CAF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F2EC1-8141-ADF4-0700-E35F06E8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marR="0" lvl="0" indent="-342900">
              <a:spcAft>
                <a:spcPts val="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Content-Based Classification Only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model relies solely on the email’s text content and does not consider metadata like sender information or email headers.</a:t>
            </a:r>
            <a:endParaRPr lang="en-US" sz="2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 Dependency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model may not perform well with emails written in languages not present in the training dataset.</a:t>
            </a:r>
            <a:endParaRPr lang="en-US" sz="2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Generalization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Performance depends on the dataset used for training. It may need retraining for different datasets or evolving spam patterns.</a:t>
            </a:r>
            <a:endParaRPr lang="en-US" sz="2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2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Limited Context Understanding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It cannot identify advanced spam techniques, such as image-based spam or context-specific phishing attempts.</a:t>
            </a:r>
            <a:endParaRPr lang="en-US" sz="2200" dirty="0">
              <a:solidFill>
                <a:srgbClr val="FFFFF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Real-Time Processing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While suitable for moderate volumes, handling extremely large-scale email datasets might require additional computational resources.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46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A3F9DB-B144-47A4-9DB2-706C3908B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3D9A74CD-249A-437B-A289-413676038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664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728C601F-08E7-E7BC-7A85-31E2B89258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7112" b="153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45C1B-DAD9-AD7B-2156-3F4C59AE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sz="41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AE7EB-C16C-F7A7-97D2-0A7CE0BA1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669" y="1320063"/>
            <a:ext cx="6332658" cy="4978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SMS Spam Detection Model employs NLP and machine learning to classify emails as "spam" or "ham."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Using </a:t>
            </a: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CountVectorizer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 text preprocessing and a </a:t>
            </a: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Multinomial Naive Bayes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classifier, it provides accurate predictions.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model features both a GUI built with </a:t>
            </a: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Tkinter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a user-friendly web interface via </a:t>
            </a:r>
            <a:r>
              <a:rPr lang="en-US" sz="22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Streamlit</a:t>
            </a: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where users can input emails for classification. 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Voice feedback enhances the desktop experience, while the Streamlit app ensures a seamless online user experience, making it versatile and interactive.</a:t>
            </a:r>
            <a:endParaRPr lang="en-US" sz="2200" dirty="0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233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B83C82-30AD-4DF2-A9AD-CE1547FD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1A649-A875-5795-30C5-C23149716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11650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Wood Type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68</TotalTime>
  <Words>526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Avenir Next LT Pro</vt:lpstr>
      <vt:lpstr>Calibri</vt:lpstr>
      <vt:lpstr>Times New Roman</vt:lpstr>
      <vt:lpstr>Tw Cen MT</vt:lpstr>
      <vt:lpstr>ShapesVTI</vt:lpstr>
      <vt:lpstr>SMS Spam detection using NLP</vt:lpstr>
      <vt:lpstr>INTRODUCTION</vt:lpstr>
      <vt:lpstr>OBJECTIVE</vt:lpstr>
      <vt:lpstr>METHODOLOGY</vt:lpstr>
      <vt:lpstr>Multinomial Naive Bayes Model</vt:lpstr>
      <vt:lpstr>OUTPUT</vt:lpstr>
      <vt:lpstr>Applications</vt:lpstr>
      <vt:lpstr>CHALLENGES AND FUTURE WORK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KAINTHOLA</dc:creator>
  <cp:lastModifiedBy>VAISHNAVI KAINTHOLA</cp:lastModifiedBy>
  <cp:revision>1</cp:revision>
  <dcterms:created xsi:type="dcterms:W3CDTF">2025-01-18T11:52:36Z</dcterms:created>
  <dcterms:modified xsi:type="dcterms:W3CDTF">2025-01-18T13:01:10Z</dcterms:modified>
</cp:coreProperties>
</file>